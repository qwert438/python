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3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我的项目汇报。今天我将向大家介绍一款集任务管理、日程安排和番茄钟计时于一体的全栈效率工具——智能日程与番茄钟管理器。这个项目旨在通过技术手段，帮助我们更好地规划时间、管理任务，最终实现个人效率的显著提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谈谈这个项目的由来。在快节奏的学习和工作中，我们都面临着任务杂乱、拖延和缺乏时间感知等共同痛点。为了解决这些问题，我决定打造一个能够将任务管理与时间管理完美结合的工具。我们的核心目标非常明确：打造一个融合番茄工作法的智能日程管理工具，实现任务、计时和统计的三合一，并构建一套游戏化的激励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接下来，我将简要介绍一下这个项目的技术架构。后端我们选择了灵活的Python Flask框架，前端则采用纯原生技术以保证性能。数据层采用了SQLite和JSON文件的双存储方案。数据可视化由matplotlib负责，并集成了Web Notification API来增强用户体验。整个应用设计为单文件启动，部署和使用非常便捷。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的一个核心亮点是其面向对象的设计思想。我们通过Task、Schedule和DataManager这三个核心类，实现了清晰的职责分离。Task类封装了任务属性，Schedule类处理业务逻辑，DataManager类负责数据持久化。这种设计极大地提升了代码的可维护性和可扩展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关于数据结构和循环逻辑的部分。在后端，我们使用列表和字典管理任务数据；前端则使用对象数组动态渲染。核心逻辑方面，番茄钟计时是一个典型的状态机应用，而日历视图的生成则运用了高效的嵌套循环和向量化思想，确保了界面的流畅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也充分利用了正则表达式和文件操作。正则表达式被用于账号安全化和强大的自然语言日期解析。而文件操作则通过JSON文件实现了任务数据的持久化，并具备自动创建和异常容错机制，保证了系统的可靠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数据持久化和可视化部分。我们设计了三个核心SQLite数据表来存储番茄钟记录、任务历史和用户信息。同时，利用matplotlib生成了一个包含六种图表的六合一数据仪表盘，为用户提供了从完成率到累积趋势的全方位数据分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加分项是“智能预测”功能。当用户创建新任务时，系统会自动分析历史数据，通过计算任务标题的相似度，预测完成该任务可能需要的时间和番茄钟数量。整个预测系统完全基于原生Python实现，展示了基础算法的应用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加分项是“智能优先级排序”。我们设计了一个综合评分函数，它会根据截止日期紧迫度、用户手动设置的优先级和未完成奖励，为每个任务计算一个优先级分数。任务列表会基于这个分数进行多级排序，并按状态分组，帮助用户轻松决定执行顺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第三个加分项是完整的Flask Web应用和桌面通知系统。我们构建了一个功能完备的Web应用，涵盖了所有核心功能，并采用了番茄主题的UI设计。同时，集成了桌面通知，在登录、完成番茄钟和任务时向用户发送提醒，形成一个完整、现代的Web应用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想特别介绍我们项目的特色亮点：“番茄园培养系统”。这是一个游戏化的激励机制。用户可以通过完成番茄钟获得积分，用积分来给一棵虚拟的番茄植物浇水、施肥，看着它从种子一步步成长、开花、结果。这个过程充满了乐趣，极大地提升了用户的使用动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番茄园，我们在交互体验上也做了很多优化。比如，你可以直接在日历上创建任务，点击统计卡片来筛选数据，番茄钟运行时任务进度会实时更新。特别是当你获得新称号时，还会有一个全屏的庆祝动画，这些细节共同构成了流畅愉悦的用户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项目的文件结构。主程序文件web_app.py包含了所有核心逻辑。我们还分离出一个独立的排行榜微服务score_server.py。templates目录存放所有HTML页面，accounts目录则存储用户的实际数据。这种结构清晰地分离了不同模块，便于维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发这个项目让我收获巨大。我不仅锻炼了全栈开发能力，深化了对OOP思想的理解，还探索了数据处理方案，实践了基础算法，并挑战了数据可视化和UI/UX设计。这个项目是一次技术实践，更是一次综合能力的全面提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我的汇报到此结束，感谢大家的聆听。项目的代码已经托管在GitHub上，大家可以通过运行python web_app.py来体验。现在，我非常乐意回答大家的任何问题。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jpe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5.svg"/><Relationship Id="rId13" Type="http://schemas.openxmlformats.org/officeDocument/2006/relationships/image" Target="../media/image14.png"/><Relationship Id="rId12" Type="http://schemas.openxmlformats.org/officeDocument/2006/relationships/image" Target="../media/image13.svg"/><Relationship Id="rId11" Type="http://schemas.openxmlformats.org/officeDocument/2006/relationships/image" Target="../media/image12.png"/><Relationship Id="rId10" Type="http://schemas.openxmlformats.org/officeDocument/2006/relationships/image" Target="../media/image11.sv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svg"/><Relationship Id="rId8" Type="http://schemas.openxmlformats.org/officeDocument/2006/relationships/image" Target="../media/image22.png"/><Relationship Id="rId7" Type="http://schemas.openxmlformats.org/officeDocument/2006/relationships/image" Target="../media/image21.svg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5" Type="http://schemas.openxmlformats.org/officeDocument/2006/relationships/notesSlide" Target="../notesSlides/notesSlide4.xml"/><Relationship Id="rId44" Type="http://schemas.openxmlformats.org/officeDocument/2006/relationships/slideLayout" Target="../slideLayouts/slideLayout12.xml"/><Relationship Id="rId43" Type="http://schemas.openxmlformats.org/officeDocument/2006/relationships/tags" Target="../tags/tag30.xml"/><Relationship Id="rId42" Type="http://schemas.openxmlformats.org/officeDocument/2006/relationships/tags" Target="../tags/tag29.xml"/><Relationship Id="rId41" Type="http://schemas.openxmlformats.org/officeDocument/2006/relationships/image" Target="../media/image35.svg"/><Relationship Id="rId40" Type="http://schemas.openxmlformats.org/officeDocument/2006/relationships/image" Target="../media/image34.png"/><Relationship Id="rId4" Type="http://schemas.openxmlformats.org/officeDocument/2006/relationships/tags" Target="../tags/tag3.xml"/><Relationship Id="rId39" Type="http://schemas.openxmlformats.org/officeDocument/2006/relationships/tags" Target="../tags/tag28.xml"/><Relationship Id="rId38" Type="http://schemas.openxmlformats.org/officeDocument/2006/relationships/tags" Target="../tags/tag27.xml"/><Relationship Id="rId37" Type="http://schemas.openxmlformats.org/officeDocument/2006/relationships/tags" Target="../tags/tag26.xml"/><Relationship Id="rId36" Type="http://schemas.openxmlformats.org/officeDocument/2006/relationships/tags" Target="../tags/tag25.xml"/><Relationship Id="rId35" Type="http://schemas.openxmlformats.org/officeDocument/2006/relationships/image" Target="../media/image33.svg"/><Relationship Id="rId34" Type="http://schemas.openxmlformats.org/officeDocument/2006/relationships/image" Target="../media/image32.png"/><Relationship Id="rId33" Type="http://schemas.openxmlformats.org/officeDocument/2006/relationships/tags" Target="../tags/tag24.xml"/><Relationship Id="rId32" Type="http://schemas.openxmlformats.org/officeDocument/2006/relationships/tags" Target="../tags/tag23.xml"/><Relationship Id="rId31" Type="http://schemas.openxmlformats.org/officeDocument/2006/relationships/tags" Target="../tags/tag22.xml"/><Relationship Id="rId30" Type="http://schemas.openxmlformats.org/officeDocument/2006/relationships/tags" Target="../tags/tag21.xml"/><Relationship Id="rId3" Type="http://schemas.openxmlformats.org/officeDocument/2006/relationships/tags" Target="../tags/tag2.xml"/><Relationship Id="rId29" Type="http://schemas.openxmlformats.org/officeDocument/2006/relationships/image" Target="../media/image31.svg"/><Relationship Id="rId28" Type="http://schemas.openxmlformats.org/officeDocument/2006/relationships/image" Target="../media/image30.png"/><Relationship Id="rId27" Type="http://schemas.openxmlformats.org/officeDocument/2006/relationships/tags" Target="../tags/tag20.xml"/><Relationship Id="rId26" Type="http://schemas.openxmlformats.org/officeDocument/2006/relationships/tags" Target="../tags/tag19.xml"/><Relationship Id="rId25" Type="http://schemas.openxmlformats.org/officeDocument/2006/relationships/tags" Target="../tags/tag18.xml"/><Relationship Id="rId24" Type="http://schemas.openxmlformats.org/officeDocument/2006/relationships/tags" Target="../tags/tag17.xml"/><Relationship Id="rId23" Type="http://schemas.openxmlformats.org/officeDocument/2006/relationships/tags" Target="../tags/tag16.xml"/><Relationship Id="rId22" Type="http://schemas.openxmlformats.org/officeDocument/2006/relationships/image" Target="../media/image29.svg"/><Relationship Id="rId21" Type="http://schemas.openxmlformats.org/officeDocument/2006/relationships/image" Target="../media/image28.png"/><Relationship Id="rId20" Type="http://schemas.openxmlformats.org/officeDocument/2006/relationships/tags" Target="../tags/tag15.xml"/><Relationship Id="rId2" Type="http://schemas.openxmlformats.org/officeDocument/2006/relationships/tags" Target="../tags/tag1.xml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image" Target="../media/image27.svg"/><Relationship Id="rId13" Type="http://schemas.openxmlformats.org/officeDocument/2006/relationships/image" Target="../media/image26.png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4.svg"/><Relationship Id="rId6" Type="http://schemas.openxmlformats.org/officeDocument/2006/relationships/image" Target="../media/image43.png"/><Relationship Id="rId5" Type="http://schemas.openxmlformats.org/officeDocument/2006/relationships/image" Target="../media/image18.jpe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svg"/><Relationship Id="rId8" Type="http://schemas.openxmlformats.org/officeDocument/2006/relationships/image" Target="../media/image49.png"/><Relationship Id="rId7" Type="http://schemas.openxmlformats.org/officeDocument/2006/relationships/image" Target="../media/image48.svg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3" Type="http://schemas.openxmlformats.org/officeDocument/2006/relationships/image" Target="../media/image19.jpeg"/><Relationship Id="rId2" Type="http://schemas.openxmlformats.org/officeDocument/2006/relationships/image" Target="../media/image17.jpe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4.svg"/><Relationship Id="rId6" Type="http://schemas.openxmlformats.org/officeDocument/2006/relationships/image" Target="../media/image53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svg"/><Relationship Id="rId8" Type="http://schemas.openxmlformats.org/officeDocument/2006/relationships/image" Target="../media/image57.png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image" Target="../media/image56.svg"/><Relationship Id="rId4" Type="http://schemas.openxmlformats.org/officeDocument/2006/relationships/image" Target="../media/image55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2.svg"/><Relationship Id="rId4" Type="http://schemas.openxmlformats.org/officeDocument/2006/relationships/image" Target="../media/image61.png"/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9.svg"/><Relationship Id="rId7" Type="http://schemas.openxmlformats.org/officeDocument/2006/relationships/image" Target="../media/image68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Relationship Id="rId3" Type="http://schemas.openxmlformats.org/officeDocument/2006/relationships/image" Target="../media/image64.png"/><Relationship Id="rId2" Type="http://schemas.openxmlformats.org/officeDocument/2006/relationships/image" Target="../media/image63.jpe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tags" Target="../tags/tag33.xml"/><Relationship Id="rId31" Type="http://schemas.openxmlformats.org/officeDocument/2006/relationships/notesSlide" Target="../notesSlides/notesSlide12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32.xml"/><Relationship Id="rId29" Type="http://schemas.openxmlformats.org/officeDocument/2006/relationships/image" Target="../media/image15.svg"/><Relationship Id="rId28" Type="http://schemas.openxmlformats.org/officeDocument/2006/relationships/image" Target="../media/image14.png"/><Relationship Id="rId27" Type="http://schemas.openxmlformats.org/officeDocument/2006/relationships/image" Target="../media/image73.svg"/><Relationship Id="rId26" Type="http://schemas.openxmlformats.org/officeDocument/2006/relationships/image" Target="../media/image72.png"/><Relationship Id="rId25" Type="http://schemas.openxmlformats.org/officeDocument/2006/relationships/tags" Target="../tags/tag48.xml"/><Relationship Id="rId24" Type="http://schemas.openxmlformats.org/officeDocument/2006/relationships/tags" Target="../tags/tag47.xml"/><Relationship Id="rId23" Type="http://schemas.openxmlformats.org/officeDocument/2006/relationships/tags" Target="../tags/tag46.xml"/><Relationship Id="rId22" Type="http://schemas.openxmlformats.org/officeDocument/2006/relationships/image" Target="../media/image39.svg"/><Relationship Id="rId21" Type="http://schemas.openxmlformats.org/officeDocument/2006/relationships/image" Target="../media/image38.png"/><Relationship Id="rId20" Type="http://schemas.openxmlformats.org/officeDocument/2006/relationships/tags" Target="../tags/tag45.xml"/><Relationship Id="rId2" Type="http://schemas.openxmlformats.org/officeDocument/2006/relationships/tags" Target="../tags/tag31.xml"/><Relationship Id="rId19" Type="http://schemas.openxmlformats.org/officeDocument/2006/relationships/tags" Target="../tags/tag44.xml"/><Relationship Id="rId18" Type="http://schemas.openxmlformats.org/officeDocument/2006/relationships/tags" Target="../tags/tag43.xml"/><Relationship Id="rId17" Type="http://schemas.openxmlformats.org/officeDocument/2006/relationships/tags" Target="../tags/tag42.xml"/><Relationship Id="rId16" Type="http://schemas.openxmlformats.org/officeDocument/2006/relationships/tags" Target="../tags/tag41.xml"/><Relationship Id="rId15" Type="http://schemas.openxmlformats.org/officeDocument/2006/relationships/tags" Target="../tags/tag40.xml"/><Relationship Id="rId14" Type="http://schemas.openxmlformats.org/officeDocument/2006/relationships/image" Target="../media/image48.svg"/><Relationship Id="rId13" Type="http://schemas.openxmlformats.org/officeDocument/2006/relationships/image" Target="../media/image47.png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7.svg"/><Relationship Id="rId8" Type="http://schemas.openxmlformats.org/officeDocument/2006/relationships/image" Target="../media/image76.png"/><Relationship Id="rId7" Type="http://schemas.openxmlformats.org/officeDocument/2006/relationships/image" Target="../media/image29.svg"/><Relationship Id="rId6" Type="http://schemas.openxmlformats.org/officeDocument/2006/relationships/image" Target="../media/image28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5" Type="http://schemas.openxmlformats.org/officeDocument/2006/relationships/notesSlide" Target="../notesSlides/notesSlide14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79.svg"/><Relationship Id="rId12" Type="http://schemas.openxmlformats.org/officeDocument/2006/relationships/image" Target="../media/image78.png"/><Relationship Id="rId11" Type="http://schemas.openxmlformats.org/officeDocument/2006/relationships/image" Target="../media/image48.svg"/><Relationship Id="rId10" Type="http://schemas.openxmlformats.org/officeDocument/2006/relationships/image" Target="../media/image47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3.svg"/><Relationship Id="rId3" Type="http://schemas.openxmlformats.org/officeDocument/2006/relationships/image" Target="../media/image82.png"/><Relationship Id="rId2" Type="http://schemas.openxmlformats.org/officeDocument/2006/relationships/image" Target="../media/image81.jpeg"/><Relationship Id="rId1" Type="http://schemas.openxmlformats.org/officeDocument/2006/relationships/image" Target="../media/image8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智能日程与番茄钟管理器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3937000"/>
            <a:ext cx="1270000" cy="508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31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Smart Scheduler + Pomodoro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715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0" y="58420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汇报人：[</a:t>
            </a:r>
            <a:r>
              <a:rPr lang="zh-CN" alt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何嘉轩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285450">
            <a:off x="5905500" y="60897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347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096000" y="58420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日期：2026年6月18日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2065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32000"/>
            <a:ext cx="419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任务杂乱无章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待办事项清单日益冗长，缺乏优先级排序，导致用户面对繁多任务时无从下手，精力分散效率低下。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76200" cy="12065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619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556000"/>
            <a:ext cx="419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普遍存在的拖延症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面对复杂或枯燥的任务时，用户习惯性推迟启动，直到最后期限临近才被迫赶工，导致压力剧增且质量难控。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953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4953000"/>
            <a:ext cx="76200" cy="12065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143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5080000"/>
            <a:ext cx="419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缺乏时间感知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整日处于忙碌状态却无法量化时间去向，对任务耗时缺乏预判，难以形成科学的时间管理习惯。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89738">
            <a:off x="4222750" y="4025909"/>
            <a:ext cx="425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rcRect l="6565" r="6565"/>
          <a:stretch>
            <a:fillRect/>
          </a:stretch>
        </p:blipFill>
        <p:spPr>
          <a:xfrm>
            <a:off x="6604000" y="1905000"/>
            <a:ext cx="2540000" cy="2032000"/>
          </a:xfrm>
          <a:prstGeom prst="rect">
            <a:avLst/>
          </a:prstGeom>
          <a:noFill/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9271000" y="1905000"/>
            <a:ext cx="215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番茄工作法循环示意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以25分钟专注工作+5分钟短暂休息为一个番茄钟，通过周期性的节奏切换，有效保持大脑活跃度，减少精神疲劳，是对抗注意力涣散的高效策略。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604000" y="4318000"/>
            <a:ext cx="1600200" cy="1841500"/>
          </a:xfrm>
          <a:prstGeom prst="roundRect">
            <a:avLst>
              <a:gd name="adj" fmla="val 0"/>
            </a:avLst>
          </a:prstGeom>
          <a:solidFill>
            <a:srgbClr val="FF634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31000" y="4445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667500" y="4889500"/>
            <a:ext cx="1473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智能日程融合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将番茄工作法无缝嵌入日程管理，帮助用户拆解任务、克服拖延，让专注成为自然习惯。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318500" y="4318000"/>
            <a:ext cx="1600200" cy="1841500"/>
          </a:xfrm>
          <a:prstGeom prst="roundRect">
            <a:avLst>
              <a:gd name="adj" fmla="val 0"/>
            </a:avLst>
          </a:prstGeom>
          <a:solidFill>
            <a:srgbClr val="FF634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45500" y="4445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382000" y="4889500"/>
            <a:ext cx="1473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核心功能三合一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深度整合任务管理、番茄计时与数据统计模块，提供一站式、全流程的效率管理解决方案。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9969500" y="4318000"/>
            <a:ext cx="1600200" cy="1841500"/>
          </a:xfrm>
          <a:prstGeom prst="roundRect">
            <a:avLst>
              <a:gd name="adj" fmla="val 0"/>
            </a:avLst>
          </a:prstGeom>
          <a:solidFill>
            <a:srgbClr val="FF634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96500" y="44450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0033000" y="4889500"/>
            <a:ext cx="1473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游戏化激励系统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设计“番茄园培养”、称号晋级和排行榜机制，用正向反馈和成就感驱动用户持续投入。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技术架构总览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本项目采用分层解耦的全栈架构，结合轻量级框架与原生技术栈，在保证开发灵活性的同时，实现了高效的数据处理与流畅的用户交互体验。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10406" r="10406"/>
          <a:stretch>
            <a:fillRect/>
          </a:stretch>
        </p:blipFill>
        <p:spPr>
          <a:xfrm>
            <a:off x="952500" y="27305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286000" y="26670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轻量后端核心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Python Flask 框架构建，负责路由分发、API 接口及核心业务逻辑，结构简洁易于扩展。</a:t>
            </a:r>
            <a:endParaRPr lang="en-US" sz="12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81500" y="2540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l="16666" r="16666"/>
          <a:stretch>
            <a:fillRect/>
          </a:stretch>
        </p:blipFill>
        <p:spPr>
          <a:xfrm>
            <a:off x="4572000" y="27305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5905500" y="26670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结构化数据存储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SQLite 嵌入式数据库，高效管理用户信息、历史记录等结构化数据，无需复杂配置即可使用。</a:t>
            </a:r>
            <a:endParaRPr lang="en-US" sz="12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001000" y="2540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91500" y="27305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9461500" y="2667000"/>
            <a:ext cx="1841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轻量任务存储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JSON 文件存储动态任务数据，读写速度快，格式直观，便于调试和数据迁移。</a:t>
            </a:r>
            <a:endParaRPr lang="en-US" sz="12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 l="25000" r="25000"/>
          <a:stretch>
            <a:fillRect/>
          </a:stretch>
        </p:blipFill>
        <p:spPr>
          <a:xfrm>
            <a:off x="952500" y="48895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2286000" y="48260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数据可视仪表盘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 matplotlib 生成“六合一”数据图表，直观展示专注时长、任务完成率等关键指标，辅助决策。</a:t>
            </a:r>
            <a:endParaRPr lang="en-US" sz="12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381500" y="4699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0" y="4889500"/>
            <a:ext cx="1016000" cy="1016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905500" y="48260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原生交互与触达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 HTML/CSS/JS 保证轻量高速，Web Notification API 实现桌面实时通知，信息传达零延迟。</a:t>
            </a:r>
            <a:endParaRPr lang="en-US" sz="12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001000" y="4699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0" y="4889500"/>
            <a:ext cx="1016000" cy="1016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461500" y="4826000"/>
            <a:ext cx="1841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极简单文件部署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封装为单文件启动模式，用户无需繁琐配置环境，仅需运行 Python 脚本即可快速启动服务，开箱即用。</a:t>
            </a:r>
            <a:endParaRPr lang="en-US" sz="12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OOP设计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2133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397000" y="2095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Task 实体类：属性封装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8"/>
            </p:custDataLst>
          </p:nvPr>
        </p:nvCxnSpPr>
        <p:spPr>
          <a:xfrm rot="-14323">
            <a:off x="952513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952500" y="28575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封装任务的20+核心属性，实现</a:t>
            </a:r>
            <a:r>
              <a:rPr lang="en-US" sz="13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to_dict()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3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from_dict()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方法，完成对象与字典的双向序列化，为数据流转提供基础。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381500" y="1905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43815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72000" y="2133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5016500" y="2095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Schedule 类：逻辑中枢</a:t>
            </a: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6"/>
            </p:custDataLst>
          </p:nvPr>
        </p:nvCxnSpPr>
        <p:spPr>
          <a:xfrm rot="-14323">
            <a:off x="4572013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4572000" y="28575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承载日程管理的核心业务逻辑，封装任务的增删查改、优先级智能排序，以及完成度、耗时等关键指标的统计计算方法。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8001000" y="1905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8001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191500" y="2133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8636000" y="2095500"/>
            <a:ext cx="295211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DataManager 类：数据访问</a:t>
            </a:r>
            <a:endParaRPr lang="en-US" sz="1100"/>
          </a:p>
        </p:txBody>
      </p:sp>
      <p:cxnSp>
        <p:nvCxnSpPr>
          <p:cNvPr id="20" name="Connector 20"/>
          <p:cNvCxnSpPr/>
          <p:nvPr>
            <p:custDataLst>
              <p:tags r:id="rId24"/>
            </p:custDataLst>
          </p:nvPr>
        </p:nvCxnSpPr>
        <p:spPr>
          <a:xfrm rot="-14323">
            <a:off x="8191513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8191500" y="28575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作为数据访问层(DAL)，统一封装SQLite数据库查询与JSON文件读写操作，隔离数据存储细节，确保业务层与数据层解耦。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762000" y="4699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634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52500" y="4889500"/>
            <a:ext cx="279400" cy="279400"/>
          </a:xfrm>
          <a:prstGeom prst="rect">
            <a:avLst/>
          </a:prstGeom>
        </p:spPr>
      </p:pic>
      <p:sp>
        <p:nvSpPr>
          <p:cNvPr id="24" name="AutoShape 24"/>
          <p:cNvSpPr/>
          <p:nvPr>
            <p:custDataLst>
              <p:tags r:id="rId30"/>
            </p:custDataLst>
          </p:nvPr>
        </p:nvSpPr>
        <p:spPr>
          <a:xfrm>
            <a:off x="1333500" y="4851400"/>
            <a:ext cx="273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职责分离，边界清晰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31"/>
            </p:custDataLst>
          </p:nvPr>
        </p:nvSpPr>
        <p:spPr>
          <a:xfrm>
            <a:off x="952500" y="5334000"/>
            <a:ext cx="304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模型、业务逻辑、数据访问三层架构各司其职，代码结构清晰，降低模块间耦合度，便于维护与扩展。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32"/>
            </p:custDataLst>
          </p:nvPr>
        </p:nvSpPr>
        <p:spPr>
          <a:xfrm>
            <a:off x="4381500" y="4699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634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572000" y="4889500"/>
            <a:ext cx="279400" cy="279400"/>
          </a:xfrm>
          <a:prstGeom prst="rect">
            <a:avLst/>
          </a:prstGeom>
        </p:spPr>
      </p:pic>
      <p:sp>
        <p:nvSpPr>
          <p:cNvPr id="28" name="AutoShape 28"/>
          <p:cNvSpPr/>
          <p:nvPr>
            <p:custDataLst>
              <p:tags r:id="rId36"/>
            </p:custDataLst>
          </p:nvPr>
        </p:nvSpPr>
        <p:spPr>
          <a:xfrm>
            <a:off x="4953000" y="4851400"/>
            <a:ext cx="273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序列化完整，流转高效</a:t>
            </a:r>
            <a:endParaRPr lang="en-US" sz="1100"/>
          </a:p>
        </p:txBody>
      </p:sp>
      <p:sp>
        <p:nvSpPr>
          <p:cNvPr id="29" name="AutoShape 29"/>
          <p:cNvSpPr/>
          <p:nvPr>
            <p:custDataLst>
              <p:tags r:id="rId37"/>
            </p:custDataLst>
          </p:nvPr>
        </p:nvSpPr>
        <p:spPr>
          <a:xfrm>
            <a:off x="4572000" y="5334000"/>
            <a:ext cx="304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通过序列化方法，无缝实现对象在内存、数据库与网络传输间的格式转换，保障数据一致性与可用性。</a:t>
            </a:r>
            <a:endParaRPr lang="en-US" sz="1100"/>
          </a:p>
        </p:txBody>
      </p:sp>
      <p:sp>
        <p:nvSpPr>
          <p:cNvPr id="30" name="AutoShape 30"/>
          <p:cNvSpPr/>
          <p:nvPr>
            <p:custDataLst>
              <p:tags r:id="rId38"/>
            </p:custDataLst>
          </p:nvPr>
        </p:nvSpPr>
        <p:spPr>
          <a:xfrm>
            <a:off x="8001000" y="4699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634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191500" y="4889500"/>
            <a:ext cx="279400" cy="279400"/>
          </a:xfrm>
          <a:prstGeom prst="rect">
            <a:avLst/>
          </a:prstGeom>
        </p:spPr>
      </p:pic>
      <p:sp>
        <p:nvSpPr>
          <p:cNvPr id="32" name="AutoShape 32"/>
          <p:cNvSpPr/>
          <p:nvPr>
            <p:custDataLst>
              <p:tags r:id="rId42"/>
            </p:custDataLst>
          </p:nvPr>
        </p:nvSpPr>
        <p:spPr>
          <a:xfrm>
            <a:off x="8572500" y="4851400"/>
            <a:ext cx="273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内置方法，逻辑直观</a:t>
            </a:r>
            <a:endParaRPr lang="en-US" sz="1100"/>
          </a:p>
        </p:txBody>
      </p:sp>
      <p:sp>
        <p:nvSpPr>
          <p:cNvPr id="33" name="AutoShape 33"/>
          <p:cNvSpPr/>
          <p:nvPr>
            <p:custDataLst>
              <p:tags r:id="rId43"/>
            </p:custDataLst>
          </p:nvPr>
        </p:nvSpPr>
        <p:spPr>
          <a:xfrm>
            <a:off x="8191500" y="5334000"/>
            <a:ext cx="304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Task类内置is_overdue、is_completed等状态判断方法，将业务规则封装于实体内部，使调用逻辑更简洁高效。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数据结构与循环逻辑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36830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222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1844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数据结构：前后端数据流转核心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795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3048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后端数据管理：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采用列表（List）与字典（Dictionary）的组合结构，与JSON格式天然契合，能够高效完成任务数据的增、删、查、改操作，为业务逻辑提供稳固的数据基座。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291">
            <a:off x="1079509" y="4311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79500" y="4572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前端动态渲染：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通过JavaScript将后端返回的JSON数据转化为对象数组，利用数组的可迭代特性，结合DOM操作动态生成和更新任务表格，实现数据与视图的实时联动。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86500" y="2032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86500" y="2032000"/>
            <a:ext cx="76200" cy="36830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222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12000" y="2184400"/>
            <a:ext cx="4361815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循环逻辑：状态与效率的双重把控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6604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604000" y="3048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番茄钟状态机机制：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利用JavaScript的 setInterval 实现精准倒计时，构建包含“运行中、暂停、已完成”的状态机模型，确保计时逻辑清晰，状态切换无差错，提升用户体验一致性。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9291">
            <a:off x="6604009" y="4311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604000" y="4572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向量化的日历渲染：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通过嵌套循环遍历星期与日期维度，借鉴Numpy向量化思想预计算所有日期的位置与状态，一次性完成DOM渲染，避免频繁重绘，显著提升日历组件的加载与交互效率。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969000"/>
            <a:ext cx="10795000" cy="635000"/>
          </a:xfrm>
          <a:prstGeom prst="roundRect">
            <a:avLst>
              <a:gd name="adj" fmla="val 0"/>
            </a:avLst>
          </a:prstGeom>
          <a:solidFill>
            <a:srgbClr val="FF634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2500" y="6070600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核心价值：以简洁的数据结构降低耦合度，以高效的循环逻辑保障性能，构建稳定、流畅的番茄钟任务管理体验。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正则与文件操作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347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527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正则表达式的多维应用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4727" b="4727"/>
          <a:stretch>
            <a:fillRect/>
          </a:stretch>
        </p:blipFill>
        <p:spPr>
          <a:xfrm>
            <a:off x="762000" y="2794000"/>
            <a:ext cx="2286000" cy="2032000"/>
          </a:xfrm>
          <a:prstGeom prst="rect">
            <a:avLst/>
          </a:prstGeom>
          <a:noFill/>
          <a:ln w="12700" cap="flat" cmpd="sng">
            <a:solidFill>
              <a:srgbClr val="FF6347">
                <a:alpha val="2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3302000" y="2794000"/>
            <a:ext cx="273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429000" y="2921000"/>
            <a:ext cx="2476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数据清洗与兼容：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re.sub 过滤非安全字符，保障账号规范；智能兼容“2026-06-17”“06/17/2026”等多格式日期输入，提升系统适应性。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5207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FF634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397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53340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自然语言日期解析：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通过正则匹配语义化输入（如“明天”“下周一”），自动转换为标准日期格式，让用户交互更自然、更直观。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89889">
            <a:off x="4064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1905000"/>
            <a:ext cx="527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JSON文件的稳健持久化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 t="5555" b="5555"/>
          <a:stretch>
            <a:fillRect/>
          </a:stretch>
        </p:blipFill>
        <p:spPr>
          <a:xfrm>
            <a:off x="6477000" y="2794000"/>
            <a:ext cx="2286000" cy="2032000"/>
          </a:xfrm>
          <a:prstGeom prst="rect">
            <a:avLst/>
          </a:prstGeom>
          <a:noFill/>
          <a:ln w="12700" cap="flat" cmpd="sng">
            <a:solidFill>
              <a:srgbClr val="FF6347">
                <a:alpha val="20000"/>
              </a:srgbClr>
            </a:solidFill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953500" y="2794000"/>
            <a:ext cx="2794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080500" y="2921000"/>
            <a:ext cx="254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结构化数据存储：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tasks.json 与 history_task.json 分离存储，实现任务数据与历史预测数据的结构化管理，便于后续分析与回溯。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5207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FF634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5397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53340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系统级容错保障：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构建自动创建与异常捕获机制，在文件缺失时自动初始化，读写异常时优雅降级并尝试恢复，确保系统数据层的高可用性。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SQLite与matplotlib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6000" y="2032000"/>
            <a:ext cx="1524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794000" y="2095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SQLite 核心数据库设计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轻量化嵌入式数据库，构建稳定可靠的数据持久化基石，支撑全量数据存储。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3422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347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683000"/>
            <a:ext cx="4699000" cy="825500"/>
          </a:xfrm>
          <a:prstGeom prst="roundRect">
            <a:avLst>
              <a:gd name="adj" fmla="val 0"/>
            </a:avLst>
          </a:prstGeom>
          <a:solidFill>
            <a:srgbClr val="FF634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683000"/>
            <a:ext cx="50800" cy="8255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206500" y="3746500"/>
            <a:ext cx="438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pomodoro_records：番茄钟统计基石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记录每次专注时长、开始结束时间等原始数据，为后续的数据分析提供最底层的事实依据。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4826000"/>
            <a:ext cx="2222500" cy="1079500"/>
          </a:xfrm>
          <a:prstGeom prst="roundRect">
            <a:avLst>
              <a:gd name="adj" fmla="val 0"/>
            </a:avLst>
          </a:prstGeom>
          <a:solidFill>
            <a:srgbClr val="FF634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4826000"/>
            <a:ext cx="50800" cy="1079500"/>
          </a:xfrm>
          <a:prstGeom prst="roundRect">
            <a:avLst>
              <a:gd name="adj" fmla="val 0"/>
            </a:avLst>
          </a:prstGeom>
          <a:solidFill>
            <a:srgbClr val="FF634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143000" y="4889500"/>
            <a:ext cx="196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task_history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存储任务全生命周期记录，利用历史数据训练模型，实现任务耗时的智能预测。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492500" y="4826000"/>
            <a:ext cx="2222500" cy="1079500"/>
          </a:xfrm>
          <a:prstGeom prst="roundRect">
            <a:avLst>
              <a:gd name="adj" fmla="val 0"/>
            </a:avLst>
          </a:prstGeom>
          <a:solidFill>
            <a:srgbClr val="FF634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492500" y="4826000"/>
            <a:ext cx="50800" cy="1079500"/>
          </a:xfrm>
          <a:prstGeom prst="roundRect">
            <a:avLst>
              <a:gd name="adj" fmla="val 0"/>
            </a:avLst>
          </a:prstGeom>
          <a:solidFill>
            <a:srgbClr val="FF634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619500" y="4889500"/>
            <a:ext cx="196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user_profile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保存积分、称号及虚拟植物成长状态，是用户激励系统的核心数据载体。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5389257">
            <a:off x="4254500" y="3930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477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31000" y="2032000"/>
            <a:ext cx="1778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8636000" y="2095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matplotlib 多维数据仪表盘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 2x3 六合一可视化看板，将枯燥数据转化为直观图表，洞察专注习惯。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-9291">
            <a:off x="6731009" y="3422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347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731000" y="3683000"/>
            <a:ext cx="1562100" cy="1206500"/>
          </a:xfrm>
          <a:prstGeom prst="roundRect">
            <a:avLst>
              <a:gd name="adj" fmla="val 0"/>
            </a:avLst>
          </a:prstGeom>
          <a:solidFill>
            <a:srgbClr val="FF634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0" y="3810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239000" y="38100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完成率分析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858000" y="4318000"/>
            <a:ext cx="133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环形饼图展示任务完成占比，直观呈现专注达成情况。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94700" y="3683000"/>
            <a:ext cx="1562100" cy="1206500"/>
          </a:xfrm>
          <a:prstGeom prst="roundRect">
            <a:avLst>
              <a:gd name="adj" fmla="val 0"/>
            </a:avLst>
          </a:prstGeom>
          <a:solidFill>
            <a:srgbClr val="FF634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21700" y="38100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8902700" y="38100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趋势与分布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521700" y="4318000"/>
            <a:ext cx="133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折线图呈现7天专注时长波动，直方图解析任务耗时规律。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020300" y="3683000"/>
            <a:ext cx="1562100" cy="1206500"/>
          </a:xfrm>
          <a:prstGeom prst="roundRect">
            <a:avLst>
              <a:gd name="adj" fmla="val 0"/>
            </a:avLst>
          </a:prstGeom>
          <a:solidFill>
            <a:srgbClr val="FF634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47300" y="38100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0528300" y="38100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维度统计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0147300" y="4318000"/>
            <a:ext cx="133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堆叠柱状图分析优先级分布，卡片展示全周期任务数量。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731000" y="5080000"/>
            <a:ext cx="4851400" cy="762000"/>
          </a:xfrm>
          <a:prstGeom prst="roundRect">
            <a:avLst>
              <a:gd name="adj" fmla="val 0"/>
            </a:avLst>
          </a:prstGeom>
          <a:solidFill>
            <a:srgbClr val="FF634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858000" y="5181600"/>
            <a:ext cx="4597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通过多图表联动，用户可清晰掌握个人专注节奏，从数据中获得反馈，形成“记录-分析-改进”的正向闭环。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智能预测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"/>
          </a:xfrm>
          <a:prstGeom prst="roundRect">
            <a:avLst>
              <a:gd name="adj" fmla="val 0"/>
            </a:avLst>
          </a:prstGeom>
          <a:solidFill>
            <a:srgbClr val="FF634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49400" y="22606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任务耗时预测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347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175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当用户输入新任务时，系统自动检索</a:t>
            </a:r>
            <a:r>
              <a:rPr lang="en-US" sz="14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task_history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表中的历史数据，利用 Python 内置的</a:t>
            </a:r>
            <a:r>
              <a:rPr lang="en-US" sz="14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difflib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库精准计算标题相似度，快速匹配最相近的历史任务，返回其实测耗时作为规划参考。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2032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286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32400" y="22606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番茄数双通道预测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946">
            <a:off x="4699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347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99000" y="3175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</a:t>
            </a:r>
            <a:r>
              <a:rPr lang="en-US" sz="14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SequenceMatcher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与字符级</a:t>
            </a:r>
            <a:r>
              <a:rPr lang="en-US" sz="14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Jaccard相似度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算法，筛选相似度最高的前5个历史样本，通过加权平均模型，科学预估完成当前任务所需的番茄钟数量，让时间规划更具量化依据。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2032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286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788400" y="22606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原生Python轻量实现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946">
            <a:off x="8255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347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255000" y="3175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整个智能预测系统不依赖任何第三方AI框架或NLP库，完全基于 Python 标准库自主实现核心算法逻辑。既保证了系统的轻量与高效，也充分展示了对基础文本处理与数据分析算法的深度掌握。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FF634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59436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通过数据驱动的智能预测，帮助用户从“凭感觉定时间”转向“依数据做计划”，实现时间管理的科学化与精细化。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优先级排序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12065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1336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截止日期紧迫度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作为核心影响因子，按紧迫程度划分为5个档次，分数区间覆盖5-100分，任务越接近截止时间，所获分数权重越高。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76200" cy="12065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619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35306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用户自定义优先级权重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将用户手动标记的「高/中/低」定性优先级，标准化转换为对应的定量数值权重，精准融入最终的综合评分模型。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4826000"/>
            <a:ext cx="76200" cy="12065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016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49276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历史任务激励机制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针对所有「未完成」状态的存量任务额外叠加30分奖励分，通过正向激励机制，有效引导用户优先清理历史待办事项。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89086">
            <a:off x="4286250" y="4025910"/>
            <a:ext cx="400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77000" y="2032000"/>
            <a:ext cx="4953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2032000"/>
            <a:ext cx="4953000" cy="508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667500" y="2159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多级智能排序规则体系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549">
            <a:off x="6667509" y="2597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667500" y="2730500"/>
            <a:ext cx="4572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1. 核心排序：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按「优先级综合分数」降序排列，确保高价值、高紧迫度的任务始终排在前列。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2 &amp; 3. 辅助排序：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同分则按「截止时间」升序，时间也相同时按「创建时间」升序，保证排序逻辑的严谨与公平。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477000" y="4699000"/>
            <a:ext cx="4953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477000" y="4699000"/>
            <a:ext cx="4953000" cy="508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4889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4864100"/>
            <a:ext cx="412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可视化状态分组展示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在完成优先级排序后，系统自动按「未完成/待定/已完成」状态归类分组，让任务列表结构清晰、主次分明，帮助用户快速聚焦当前核心工作流。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Flask Web + 通知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70500" cy="762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1844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Flask Web 全功能交互界面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2914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175000"/>
            <a:ext cx="4762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构建了包含</a:t>
            </a:r>
            <a:r>
              <a:rPr lang="en-US" sz="15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7个页面路由</a:t>
            </a:r>
            <a: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5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15+ API接口</a:t>
            </a:r>
            <a: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完整Web应用，用户可通过浏览器无缝访问任务CRUD、日历视图、数据统计、番茄园、称号系统及排行榜等核心功能。界面采用暖色调番茄主题设计，搭配灵动的浮动番茄装饰动画，打造沉浸式、有温度的使用体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59500" y="1905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159500" y="1905000"/>
            <a:ext cx="5270500" cy="762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2222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48500" y="21844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智能桌面通知提醒体系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167">
            <a:off x="6413508" y="2914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13500" y="3175000"/>
            <a:ext cx="4762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集成浏览器桌面通知功能，在关键节点主动触达用户：登录时提示未完成任务数，建立工作锚点；完成番茄钟后推送积分奖励与剩余任务，强化正向反馈；任务完结时再次同步待办进度，形成“执行-反馈-规划”的良性闭环，避免信息遗漏，提升专注效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FF634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9436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通过Web化与通知化的结合，将工具从单一功能升级为全场景、有感知的数字化工作助手，实现技术与体验的双重突破。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特色亮点：番茄园培养系统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5468" r="5468"/>
          <a:stretch>
            <a:fillRect/>
          </a:stretch>
        </p:blipFill>
        <p:spPr>
          <a:xfrm>
            <a:off x="762000" y="1778000"/>
            <a:ext cx="4826000" cy="3048000"/>
          </a:xfrm>
          <a:prstGeom prst="rect">
            <a:avLst/>
          </a:prstGeom>
          <a:noFill/>
          <a:ln w="25400" cap="flat" cmpd="sng">
            <a:solidFill>
              <a:srgbClr val="FF6347">
                <a:alpha val="2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以游戏化视觉呈现植物从种子破土到果实成熟的完整生命周期，通过细腻的插画风格和连贯的视觉叙事，将枯燥的任务过程转化为充满期待的养成体验。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450">
            <a:off x="3810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350000" y="1778000"/>
            <a:ext cx="5080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350000" y="1778000"/>
            <a:ext cx="76200" cy="13335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9304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75500" y="19050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全周期视觉化成长体系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2413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精心设计从“种子”到“成熟”的7个成长阶段，配合统一的SVG矢量视觉风格，让用户清晰感知每一次努力带来的植物变化，获得直观的成就感。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3365500"/>
            <a:ext cx="5080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350000" y="3365500"/>
            <a:ext cx="76200" cy="13335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35179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75500" y="34925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沉浸式互动与动态反馈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0" y="4000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支持浇水、施肥、晒太阳等趣味互动操作，每一次交互都会触发生动的动画效果，即时的视觉反馈增强了用户的参与感和游戏乐趣。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4953000"/>
            <a:ext cx="5080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350000" y="4953000"/>
            <a:ext cx="76200" cy="13335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51054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75500" y="50800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积分闭环驱动用户粘性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0" y="5588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将番茄钟专注积分与植物养成资源深度绑定，用户需用积分兑换成长道具，形成“专注-奖励-成长”的正向闭环，有效提升用户的长期留存。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cap="flat" cmpd="sng">
            <a:solidFill>
              <a:srgbClr val="E6CFC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特色亮点：交互体验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我们在整个应用的交互体验（UI/UX）上投入了大量精力，从细节出发打磨每一次点击与反馈，力求为用户带来流畅、自然且充满愉悦感的操作流程。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794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794000"/>
            <a:ext cx="76200" cy="16510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2984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587500" y="29464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日历视图交互</a:t>
            </a:r>
            <a:endParaRPr lang="en-US" sz="1100"/>
          </a:p>
        </p:txBody>
      </p:sp>
      <p:cxnSp>
        <p:nvCxnSpPr>
          <p:cNvPr id="9" name="Connector 9"/>
          <p:cNvCxnSpPr/>
          <p:nvPr>
            <p:custDataLst>
              <p:tags r:id="rId8"/>
            </p:custDataLst>
          </p:nvPr>
        </p:nvCxnSpPr>
        <p:spPr>
          <a:xfrm rot="-14946">
            <a:off x="1016014" y="3549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1016000" y="3683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支持点击日期快速创建任务，鼠标悬停即可预览任务摘要，无需繁琐跳转，操作直观高效。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4381500" y="2794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4381500" y="2794000"/>
            <a:ext cx="76200" cy="16510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35500" y="2984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5207000" y="29464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统计卡片交互</a:t>
            </a:r>
            <a:endParaRPr lang="en-US" sz="1100"/>
          </a:p>
        </p:txBody>
      </p:sp>
      <p:cxnSp>
        <p:nvCxnSpPr>
          <p:cNvPr id="15" name="Connector 15"/>
          <p:cNvCxnSpPr/>
          <p:nvPr>
            <p:custDataLst>
              <p:tags r:id="rId16"/>
            </p:custDataLst>
          </p:nvPr>
        </p:nvCxnSpPr>
        <p:spPr>
          <a:xfrm rot="-14946">
            <a:off x="4635514" y="3549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4635500" y="3683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点击不同维度的数据卡片，下方图表数据实时联动筛选，让数据关系可视化，洞察一目了然。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8001000" y="2794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9"/>
            </p:custDataLst>
          </p:nvPr>
        </p:nvSpPr>
        <p:spPr>
          <a:xfrm>
            <a:off x="8001000" y="2794000"/>
            <a:ext cx="76200" cy="16510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55000" y="2984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3"/>
            </p:custDataLst>
          </p:nvPr>
        </p:nvSpPr>
        <p:spPr>
          <a:xfrm>
            <a:off x="8826500" y="29464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实时状态更新</a:t>
            </a:r>
            <a:endParaRPr lang="en-US" sz="1100"/>
          </a:p>
        </p:txBody>
      </p:sp>
      <p:cxnSp>
        <p:nvCxnSpPr>
          <p:cNvPr id="21" name="Connector 21"/>
          <p:cNvCxnSpPr/>
          <p:nvPr>
            <p:custDataLst>
              <p:tags r:id="rId24"/>
            </p:custDataLst>
          </p:nvPr>
        </p:nvCxnSpPr>
        <p:spPr>
          <a:xfrm rot="-14946">
            <a:off x="8255014" y="3549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>
            <p:custDataLst>
              <p:tags r:id="rId25"/>
            </p:custDataLst>
          </p:nvPr>
        </p:nvSpPr>
        <p:spPr>
          <a:xfrm>
            <a:off x="8255000" y="3683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番茄钟启动后，任务列表中的剩余番茄数同步递减，进度变化即时可见，时刻掌握任务节奏。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4699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2000" y="469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16000" y="48895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651000" y="485140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积分</a:t>
            </a:r>
            <a:r>
              <a:rPr lang="zh-CN" alt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排行榜</a:t>
            </a:r>
            <a:endParaRPr lang="zh-CN" altLang="en-US" sz="18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7" name="Connector 27"/>
          <p:cNvCxnSpPr/>
          <p:nvPr/>
        </p:nvCxnSpPr>
        <p:spPr>
          <a:xfrm rot="-9167">
            <a:off x="1016008" y="5454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1016000" y="55626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通过专注获得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的积分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称号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，可以实时更新排行榜所在名次。积分排行榜以山巅为意象，激励用户向上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攀登。</a:t>
            </a:r>
            <a:endParaRPr lang="zh-CN" alt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286500" y="4699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286500" y="469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540500" y="4889500"/>
            <a:ext cx="457200" cy="4572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175500" y="485140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称号晋级庆祝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9167">
            <a:off x="6540508" y="5454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6540500" y="55626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当用户解锁新称号时，触发全屏动态庆祝动画，搭配音效反馈，为每一次成长赋予强烈的成就感与仪式感。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项目文件结构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7780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web_app.py — Flask 核心主程序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667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项目核心文件 (约46KB)，整合了所有业务逻辑、前端路由配置与后端API接口定义，是整个应用的调度中枢。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905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23000" y="1905000"/>
            <a:ext cx="76200" cy="17780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score_server.py — 独立排行榜微服务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2667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与主应用解耦的独立进程，专门负责处理用户排行榜数据的计算、缓存与实时更新，保障核心服务的稳定性。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4191000"/>
            <a:ext cx="76200" cy="19050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431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templates/ — 前端页面模板目录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1016009" y="4819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4953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包含10+核心页面模板，以 base.html 为基础定义全局样式，集成 index、plant、calendar、stats 等功能页，统一视觉风格与交互逻辑。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191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23000" y="4191000"/>
            <a:ext cx="76200" cy="19050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431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accounts/ — 用户数据持久化存储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291">
            <a:off x="6477009" y="4819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77000" y="4953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按用户维度隔离存储数据，包含任务清单 tasks.json 与番茄钟历史记录 pomodoro.db，采用轻量化文件存储，确保数据安全与可迁移性。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开发心得与收获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2065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0320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全栈开发能力的完整历练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完整经历了从后端API架构设计、接口开发到前端页面交互实现的全流程，打通了前后端技术壁垒，提升了系统全局把控能力。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3655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365500"/>
            <a:ext cx="76200" cy="12065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5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87500" y="34925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OOP思想的深度实践与沉淀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深刻体会面向对象编程在复杂业务场景中的优势，通过封装、继承与多态实现代码解耦，大幅提升了项目的可维护性与复用性。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4826000"/>
            <a:ext cx="76200" cy="12065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016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87500" y="49530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多模态数据存储方案的探索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根据数据特性灵活组合JSON轻量存储与SQLite结构化存储，平衡了读写性能与数据管理效率，构建了高效稳定的数据持久层方案。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13500" y="1905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13500" y="1905000"/>
            <a:ext cx="76200" cy="12065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2095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239000" y="20320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基础算法的场景化落地应用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深入实践相似度匹配算法、智能评分模型与高效排序算法，将理论知识转化为解决实际业务问题的核心能力，优化了核心功能体验。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13500" y="33655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13500" y="3365500"/>
            <a:ext cx="76200" cy="12065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35560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239000" y="34925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数据可视化的技术突破与挑战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攻克动态图表生成的技术难点，利用matplotlib实现数据的直观呈现，将枯燥的数字转化为清晰易懂的可视化信息，辅助决策与分析。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413500" y="4826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634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13500" y="4826000"/>
            <a:ext cx="76200" cy="12065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67500" y="50165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239000" y="49530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用户视角的UI/UX设计认知升级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跳出纯技术视角，学会从用户体验出发思考设计，打磨交互逻辑与视觉细节，让产品既具备技术深度，又拥有美观易用的表层体验。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感谢聆听，欢迎提问！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6875">
            <a:off x="2921006" y="41846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347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46990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l="4843" r="4843"/>
          <a:stretch>
            <a:fillRect/>
          </a:stretch>
        </p:blipFill>
        <p:spPr>
          <a:xfrm>
            <a:off x="1270000" y="48895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2540000" y="4826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项目开源仓库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https://github.com/qwert438/python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 Star 收藏，参与 Issue 讨论与代码贡献</a:t>
            </a:r>
            <a:endParaRPr lang="en-US" sz="1200" b="0" i="0" u="none" strike="noStrike">
              <a:solidFill>
                <a:srgbClr val="88888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46990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FF634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4889500"/>
            <a:ext cx="635000" cy="635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620000" y="48260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本地快速体验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启动命令：python web_app.py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访问路径：http://127.0.0.1:5000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2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3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4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5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6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7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8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9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10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11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12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13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14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15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16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17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18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19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20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21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22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23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24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25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26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27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28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29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30.xml><?xml version="1.0" encoding="utf-8"?>
<p:tagLst xmlns:p="http://schemas.openxmlformats.org/presentationml/2006/main">
  <p:tag name="KSO_WM_DIAGRAM_VIRTUALLY_FRAME" val="{&quot;height&quot;:330,&quot;left&quot;:60,&quot;top&quot;:150,&quot;width&quot;:852.45}"/>
</p:tagLst>
</file>

<file path=ppt/tags/tag31.xml><?xml version="1.0" encoding="utf-8"?>
<p:tagLst xmlns:p="http://schemas.openxmlformats.org/presentationml/2006/main">
  <p:tag name="KSO_WM_DIAGRAM_VIRTUALLY_FRAME" val="{&quot;height&quot;:130,&quot;left&quot;:60,&quot;top&quot;:220,&quot;width&quot;:840}"/>
</p:tagLst>
</file>

<file path=ppt/tags/tag32.xml><?xml version="1.0" encoding="utf-8"?>
<p:tagLst xmlns:p="http://schemas.openxmlformats.org/presentationml/2006/main">
  <p:tag name="KSO_WM_DIAGRAM_VIRTUALLY_FRAME" val="{&quot;height&quot;:130,&quot;left&quot;:60,&quot;top&quot;:220,&quot;width&quot;:840}"/>
</p:tagLst>
</file>

<file path=ppt/tags/tag33.xml><?xml version="1.0" encoding="utf-8"?>
<p:tagLst xmlns:p="http://schemas.openxmlformats.org/presentationml/2006/main">
  <p:tag name="KSO_WM_DIAGRAM_VIRTUALLY_FRAME" val="{&quot;height&quot;:130,&quot;left&quot;:60,&quot;top&quot;:220,&quot;width&quot;:840}"/>
</p:tagLst>
</file>

<file path=ppt/tags/tag34.xml><?xml version="1.0" encoding="utf-8"?>
<p:tagLst xmlns:p="http://schemas.openxmlformats.org/presentationml/2006/main">
  <p:tag name="KSO_WM_DIAGRAM_VIRTUALLY_FRAME" val="{&quot;height&quot;:130,&quot;left&quot;:60,&quot;top&quot;:220,&quot;width&quot;:840}"/>
</p:tagLst>
</file>

<file path=ppt/tags/tag35.xml><?xml version="1.0" encoding="utf-8"?>
<p:tagLst xmlns:p="http://schemas.openxmlformats.org/presentationml/2006/main">
  <p:tag name="KSO_WM_DIAGRAM_VIRTUALLY_FRAME" val="{&quot;height&quot;:130,&quot;left&quot;:60,&quot;top&quot;:220,&quot;width&quot;:840}"/>
</p:tagLst>
</file>

<file path=ppt/tags/tag36.xml><?xml version="1.0" encoding="utf-8"?>
<p:tagLst xmlns:p="http://schemas.openxmlformats.org/presentationml/2006/main">
  <p:tag name="KSO_WM_DIAGRAM_VIRTUALLY_FRAME" val="{&quot;height&quot;:130,&quot;left&quot;:60,&quot;top&quot;:220,&quot;width&quot;:840}"/>
</p:tagLst>
</file>

<file path=ppt/tags/tag37.xml><?xml version="1.0" encoding="utf-8"?>
<p:tagLst xmlns:p="http://schemas.openxmlformats.org/presentationml/2006/main">
  <p:tag name="KSO_WM_DIAGRAM_VIRTUALLY_FRAME" val="{&quot;height&quot;:130,&quot;left&quot;:60,&quot;top&quot;:220,&quot;width&quot;:840}"/>
</p:tagLst>
</file>

<file path=ppt/tags/tag38.xml><?xml version="1.0" encoding="utf-8"?>
<p:tagLst xmlns:p="http://schemas.openxmlformats.org/presentationml/2006/main">
  <p:tag name="KSO_WM_DIAGRAM_VIRTUALLY_FRAME" val="{&quot;height&quot;:130,&quot;left&quot;:60,&quot;top&quot;:220,&quot;width&quot;:840}"/>
</p:tagLst>
</file>

<file path=ppt/tags/tag39.xml><?xml version="1.0" encoding="utf-8"?>
<p:tagLst xmlns:p="http://schemas.openxmlformats.org/presentationml/2006/main">
  <p:tag name="KSO_WM_DIAGRAM_VIRTUALLY_FRAME" val="{&quot;height&quot;:130,&quot;left&quot;:60,&quot;top&quot;:220,&quot;width&quot;:840}"/>
</p:tagLst>
</file>

<file path=ppt/tags/tag40.xml><?xml version="1.0" encoding="utf-8"?>
<p:tagLst xmlns:p="http://schemas.openxmlformats.org/presentationml/2006/main">
  <p:tag name="KSO_WM_DIAGRAM_VIRTUALLY_FRAME" val="{&quot;height&quot;:130,&quot;left&quot;:60,&quot;top&quot;:220,&quot;width&quot;:840}"/>
</p:tagLst>
</file>

<file path=ppt/tags/tag41.xml><?xml version="1.0" encoding="utf-8"?>
<p:tagLst xmlns:p="http://schemas.openxmlformats.org/presentationml/2006/main">
  <p:tag name="KSO_WM_DIAGRAM_VIRTUALLY_FRAME" val="{&quot;height&quot;:130,&quot;left&quot;:60,&quot;top&quot;:220,&quot;width&quot;:840}"/>
</p:tagLst>
</file>

<file path=ppt/tags/tag42.xml><?xml version="1.0" encoding="utf-8"?>
<p:tagLst xmlns:p="http://schemas.openxmlformats.org/presentationml/2006/main">
  <p:tag name="KSO_WM_DIAGRAM_VIRTUALLY_FRAME" val="{&quot;height&quot;:130,&quot;left&quot;:60,&quot;top&quot;:220,&quot;width&quot;:840}"/>
</p:tagLst>
</file>

<file path=ppt/tags/tag43.xml><?xml version="1.0" encoding="utf-8"?>
<p:tagLst xmlns:p="http://schemas.openxmlformats.org/presentationml/2006/main">
  <p:tag name="KSO_WM_DIAGRAM_VIRTUALLY_FRAME" val="{&quot;height&quot;:130,&quot;left&quot;:60,&quot;top&quot;:220,&quot;width&quot;:840}"/>
</p:tagLst>
</file>

<file path=ppt/tags/tag44.xml><?xml version="1.0" encoding="utf-8"?>
<p:tagLst xmlns:p="http://schemas.openxmlformats.org/presentationml/2006/main">
  <p:tag name="KSO_WM_DIAGRAM_VIRTUALLY_FRAME" val="{&quot;height&quot;:130,&quot;left&quot;:60,&quot;top&quot;:220,&quot;width&quot;:840}"/>
</p:tagLst>
</file>

<file path=ppt/tags/tag45.xml><?xml version="1.0" encoding="utf-8"?>
<p:tagLst xmlns:p="http://schemas.openxmlformats.org/presentationml/2006/main">
  <p:tag name="KSO_WM_DIAGRAM_VIRTUALLY_FRAME" val="{&quot;height&quot;:130,&quot;left&quot;:60,&quot;top&quot;:220,&quot;width&quot;:840}"/>
</p:tagLst>
</file>

<file path=ppt/tags/tag46.xml><?xml version="1.0" encoding="utf-8"?>
<p:tagLst xmlns:p="http://schemas.openxmlformats.org/presentationml/2006/main">
  <p:tag name="KSO_WM_DIAGRAM_VIRTUALLY_FRAME" val="{&quot;height&quot;:130,&quot;left&quot;:60,&quot;top&quot;:220,&quot;width&quot;:840}"/>
</p:tagLst>
</file>

<file path=ppt/tags/tag47.xml><?xml version="1.0" encoding="utf-8"?>
<p:tagLst xmlns:p="http://schemas.openxmlformats.org/presentationml/2006/main">
  <p:tag name="KSO_WM_DIAGRAM_VIRTUALLY_FRAME" val="{&quot;height&quot;:130,&quot;left&quot;:60,&quot;top&quot;:220,&quot;width&quot;:840}"/>
</p:tagLst>
</file>

<file path=ppt/tags/tag48.xml><?xml version="1.0" encoding="utf-8"?>
<p:tagLst xmlns:p="http://schemas.openxmlformats.org/presentationml/2006/main">
  <p:tag name="KSO_WM_DIAGRAM_VIRTUALLY_FRAME" val="{&quot;height&quot;:130,&quot;left&quot;:60,&quot;top&quot;:22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5033</Words>
  <Application>WPS 演示</Application>
  <PresentationFormat/>
  <Paragraphs>277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石昕洲</cp:lastModifiedBy>
  <cp:revision>3</cp:revision>
  <dcterms:created xsi:type="dcterms:W3CDTF">2026-06-17T04:13:00Z</dcterms:created>
  <dcterms:modified xsi:type="dcterms:W3CDTF">2026-06-17T04:39:18Z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{"Label":"1","ContentProducer":"001191110102MACQD9K64010000","ProduceID":"7652212596172016860","ReservedCode1":"","ContentPropagator":"","PropagateID":"","ReservedCode2":""}</vt:lpwstr>
  </property>
  <property fmtid="{D5CDD505-2E9C-101B-9397-08002B2CF9AE}" pid="3" name="ICV">
    <vt:lpwstr>EE30C0D8769C4F9E9F730B9A2CE96C03_13</vt:lpwstr>
  </property>
  <property fmtid="{D5CDD505-2E9C-101B-9397-08002B2CF9AE}" pid="4" name="KSOProductBuildVer">
    <vt:lpwstr>2052-12.1.0.23542</vt:lpwstr>
  </property>
</Properties>
</file>